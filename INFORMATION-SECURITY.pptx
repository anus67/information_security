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erif Display"/>
      <p:regular r:id="rId201314"/>
    </p:embeddedFont>
    <p:embeddedFont>
      <p:font typeface="IBM Plex Sans"/>
      <p:regular r:id="rId201315"/>
    </p:embeddedFont>
    <p:embeddedFont>
      <p:font typeface="IBM Plex Sans SemiBold"/>
      <p:regular r:id="rId201316"/>
    </p:embeddedFont>
    <p:embeddedFont>
      <p:font typeface="IBM Plex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idea that security is a condition of trust. The subject is larger than technology: it protects people, information, and the decisions built 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familiar examples before introducing technical language. A student record, payment, research result, or message is already an information-security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CIA triad as three connected properties, not three isolated definitions. A system can be private but inaccurate, accurate but unavailable, or available to the wrong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learners to name one data item and trace it through all four stages. The right control depends on where the data is and what is happening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is not a permanent label attached to a system. It changes as assets, threats, weaknesses, and impacts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the three questions. Authentication establishes identity. Authorization limits action. Accountability creates a record that can be reviewed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convenience with control. Broad standing access feels efficient until an account is misused. Specific, temporary access limits the path an error or stolen credential can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Encryption does not make data disappear. It changes who can understand it, and under what conditions. Emphasize that key management is part of the security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university service as the example. If one layer fails, the others should still slow the problem, reveal it, limit its reach, or help restore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calm, practical message. Security improves when systems make the safe action visible and easy. People are part of the control system, not the scapegoat.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3-2.jpeg"/><Relationship Id="rId3" Type="http://schemas.openxmlformats.org/officeDocument/2006/relationships/image" Target="../media/image-1002-2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7E3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7E3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pic>
        <p:nvPicPr>
          <p:cNvPr id="5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B64B36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715010"/>
            <a:ext cx="660383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144" kern="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 / DATA / DECISIONS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182" y="2291755"/>
            <a:ext cx="6095848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84" kern="1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INFORMATION</a:t>
            </a:r>
            <a:endParaRPr lang="en-US" sz="5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600" spc="-84" kern="1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SECURITY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11182" y="3849298"/>
            <a:ext cx="609584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00" spc="-30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Protecting data. Preserving trust.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1182" y="6146800"/>
            <a:ext cx="6095848" cy="101600"/>
          </a:xfrm>
          <a:prstGeom prst="rect">
            <a:avLst/>
          </a:prstGeom>
          <a:solidFill>
            <a:srgbClr val="D8D2C8"/>
          </a:solidFill>
          <a:ln/>
        </p:spPr>
      </p:sp>
      <p:sp>
        <p:nvSpPr>
          <p:cNvPr id="7" name="Text 5"/>
          <p:cNvSpPr/>
          <p:nvPr/>
        </p:nvSpPr>
        <p:spPr>
          <a:xfrm>
            <a:off x="711182" y="5405160"/>
            <a:ext cx="609584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Information security protects the data, systems, and decisions that keep our shared world moving.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C7C2B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B9C7B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263" y="664210"/>
            <a:ext cx="660383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144" kern="1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OPENING PROMISE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263" y="992656"/>
            <a:ext cx="5994250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57" kern="100" dirty="0">
                <a:solidFill>
                  <a:srgbClr val="20222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Security begins with a promise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263" y="2207895"/>
            <a:ext cx="5994250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Information security protects the conditions that let people, institutions, and systems rely on one another.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263" y="3112294"/>
            <a:ext cx="1977976" cy="38100"/>
          </a:xfrm>
          <a:prstGeom prst="roundRect">
            <a:avLst>
              <a:gd name="adj" fmla="val 49999"/>
            </a:avLst>
          </a:prstGeom>
          <a:solidFill>
            <a:srgbClr val="C6533D"/>
          </a:solidFill>
          <a:ln/>
        </p:spPr>
      </p:sp>
      <p:sp>
        <p:nvSpPr>
          <p:cNvPr id="8" name="Shape 5"/>
          <p:cNvSpPr/>
          <p:nvPr/>
        </p:nvSpPr>
        <p:spPr>
          <a:xfrm>
            <a:off x="5486263" y="3385344"/>
            <a:ext cx="1794822" cy="76200"/>
          </a:xfrm>
          <a:prstGeom prst="rect">
            <a:avLst/>
          </a:prstGeom>
          <a:solidFill>
            <a:srgbClr val="C6533D"/>
          </a:solidFill>
          <a:ln/>
        </p:spPr>
      </p:sp>
      <p:sp>
        <p:nvSpPr>
          <p:cNvPr id="9" name="Text 6"/>
          <p:cNvSpPr/>
          <p:nvPr/>
        </p:nvSpPr>
        <p:spPr>
          <a:xfrm>
            <a:off x="5486263" y="3657323"/>
            <a:ext cx="1794822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25" kern="100" dirty="0">
                <a:solidFill>
                  <a:srgbClr val="20222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People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263" y="4023638"/>
            <a:ext cx="179482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Students trust a record to represent them fairly.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85877" y="3385344"/>
            <a:ext cx="1794922" cy="76200"/>
          </a:xfrm>
          <a:prstGeom prst="rect">
            <a:avLst/>
          </a:prstGeom>
          <a:solidFill>
            <a:srgbClr val="B9C7BC"/>
          </a:solidFill>
          <a:ln/>
        </p:spPr>
      </p:sp>
      <p:sp>
        <p:nvSpPr>
          <p:cNvPr id="12" name="Text 9"/>
          <p:cNvSpPr/>
          <p:nvPr/>
        </p:nvSpPr>
        <p:spPr>
          <a:xfrm>
            <a:off x="7585877" y="3657323"/>
            <a:ext cx="1794922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25" kern="100" dirty="0">
                <a:solidFill>
                  <a:srgbClr val="20222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Data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585877" y="4023638"/>
            <a:ext cx="179492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Researchers trust results to remain accurate.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685591" y="3385344"/>
            <a:ext cx="1794922" cy="76200"/>
          </a:xfrm>
          <a:prstGeom prst="rect">
            <a:avLst/>
          </a:prstGeom>
          <a:solidFill>
            <a:srgbClr val="AEBFC5"/>
          </a:solidFill>
          <a:ln/>
        </p:spPr>
      </p:sp>
      <p:sp>
        <p:nvSpPr>
          <p:cNvPr id="15" name="Text 12"/>
          <p:cNvSpPr/>
          <p:nvPr/>
        </p:nvSpPr>
        <p:spPr>
          <a:xfrm>
            <a:off x="9685591" y="3657323"/>
            <a:ext cx="1794922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25" kern="100" dirty="0">
                <a:solidFill>
                  <a:srgbClr val="20222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Decisions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85591" y="4023638"/>
            <a:ext cx="1794922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 trust a payment or message to reach its purpose.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17070"/>
            <a:ext cx="406389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144" kern="100" dirty="0">
                <a:solidFill>
                  <a:srgbClr val="9A38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CORE PILLARS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445516"/>
            <a:ext cx="3759106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57" kern="100" dirty="0">
                <a:solidFill>
                  <a:srgbClr val="20222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Three properties make information trustworthy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4180999"/>
            <a:ext cx="375910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Information security is not one promise. It is a balanced set of conditions.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78275" y="2732683"/>
            <a:ext cx="1739856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700" spc="-25" kern="100" dirty="0">
                <a:solidFill>
                  <a:srgbClr val="30323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Confidentiality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978275" y="3087688"/>
            <a:ext cx="173985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the right people can see it.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4522" y="2038945"/>
            <a:ext cx="2311342" cy="2311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9184" y="3030339"/>
            <a:ext cx="303999" cy="3283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spc="-24" kern="1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740656" y="1976140"/>
            <a:ext cx="1841454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25" kern="100" dirty="0">
                <a:solidFill>
                  <a:srgbClr val="30323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Integrity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740656" y="2331145"/>
            <a:ext cx="184145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remains accurate and unaltered.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522" y="2038945"/>
            <a:ext cx="2311342" cy="2311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32599" y="2329755"/>
            <a:ext cx="303999" cy="3283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spc="-24" kern="100" dirty="0">
                <a:solidFill>
                  <a:srgbClr val="00000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9740656" y="3204865"/>
            <a:ext cx="1841454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25" kern="100" dirty="0">
                <a:solidFill>
                  <a:srgbClr val="30323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Availability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740656" y="3559870"/>
            <a:ext cx="184145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there when an authorized person needs it.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522" y="2038945"/>
            <a:ext cx="2311342" cy="2311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32599" y="3730923"/>
            <a:ext cx="303999" cy="3283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spc="-24" kern="100" dirty="0">
                <a:solidFill>
                  <a:srgbClr val="000000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4978275" y="4602480"/>
            <a:ext cx="721342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trustworthy system protects all three at once.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1505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 THE DATA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1235246"/>
            <a:ext cx="10972526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57" kern="100" dirty="0">
                <a:solidFill>
                  <a:srgbClr val="20222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Every piece of data has a life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1929289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decisions should follow the data across its full lifecycle.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2489597"/>
            <a:ext cx="10972526" cy="1290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30323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Create or collect.</a:t>
            </a:r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Ask what is needed and why.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600" b="1" dirty="0">
                <a:solidFill>
                  <a:srgbClr val="30323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Store and use.</a:t>
            </a:r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Limit access and protect the working copy.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600" b="1" dirty="0">
                <a:solidFill>
                  <a:srgbClr val="30323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Share or transmit.</a:t>
            </a:r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Send it only through an appropriate path.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600" b="1" dirty="0">
                <a:solidFill>
                  <a:srgbClr val="303235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Archive or delete.</a:t>
            </a:r>
            <a:pPr algn="l" marL="325120" indent="-32512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Keep it for a reason, then remove it safely.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596902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data may need different safeguards at each stage.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41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144" kern="100" dirty="0">
                <a:solidFill>
                  <a:srgbClr val="2022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THINGS GO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1856"/>
            <a:ext cx="10972526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57" kern="100" dirty="0">
                <a:solidFill>
                  <a:srgbClr val="20222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Risk is a relationship, not a label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1634946"/>
            <a:ext cx="109725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becomes clearer when we connect what matters, what could happen, where protection is weak, and what changes afterward.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382937"/>
            <a:ext cx="2514537" cy="2124869"/>
          </a:xfrm>
          <a:prstGeom prst="rect">
            <a:avLst/>
          </a:prstGeom>
          <a:solidFill>
            <a:srgbClr val="B9C7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611537"/>
            <a:ext cx="507987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3325294"/>
            <a:ext cx="2057349" cy="26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spc="-28" kern="1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Asset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8179" y="3715365"/>
            <a:ext cx="205734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matters to protect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28914" y="2382937"/>
            <a:ext cx="2514537" cy="2124869"/>
          </a:xfrm>
          <a:prstGeom prst="rect">
            <a:avLst/>
          </a:prstGeom>
          <a:solidFill>
            <a:srgbClr val="B9C7B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9" y="2611537"/>
            <a:ext cx="507987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509" y="3325294"/>
            <a:ext cx="2057349" cy="26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spc="-28" kern="1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Threat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3657509" y="3715365"/>
            <a:ext cx="205734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could cause harm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48244" y="2382937"/>
            <a:ext cx="2514537" cy="2124869"/>
          </a:xfrm>
          <a:prstGeom prst="rect">
            <a:avLst/>
          </a:prstGeom>
          <a:solidFill>
            <a:srgbClr val="B9C7B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838" y="2611537"/>
            <a:ext cx="507987" cy="508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76838" y="3325294"/>
            <a:ext cx="2057349" cy="26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spc="-28" kern="1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Vulnerability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6476838" y="3715365"/>
            <a:ext cx="205734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protection is weak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067573" y="2382937"/>
            <a:ext cx="2514537" cy="2124869"/>
          </a:xfrm>
          <a:prstGeom prst="rect">
            <a:avLst/>
          </a:prstGeom>
          <a:solidFill>
            <a:srgbClr val="B9C7B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167" y="2611537"/>
            <a:ext cx="507987" cy="508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96167" y="3325294"/>
            <a:ext cx="2057349" cy="26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spc="-28" kern="1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Impact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9296167" y="3715365"/>
            <a:ext cx="205734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changes if the event occurs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09585" y="4693543"/>
            <a:ext cx="1158211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2022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grows when a valuable asset meets a plausible threat through a weakness with meaningful impact.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8928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TO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09585" y="1254296"/>
            <a:ext cx="10972526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57" kern="100" dirty="0">
                <a:solidFill>
                  <a:srgbClr val="20222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Identity is the first control point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1948339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secure action starts by connecting the right person to the right permission, at the right time.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09585" y="2457847"/>
            <a:ext cx="3454314" cy="2097484"/>
          </a:xfrm>
          <a:prstGeom prst="roundRect">
            <a:avLst>
              <a:gd name="adj" fmla="val 545"/>
            </a:avLst>
          </a:prstGeom>
          <a:solidFill>
            <a:srgbClr val="ECE6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686447"/>
            <a:ext cx="507987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3396576"/>
            <a:ext cx="2997125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25" kern="100" dirty="0">
                <a:solidFill>
                  <a:srgbClr val="20222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Authentication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38179" y="3762891"/>
            <a:ext cx="322571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are you?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68691" y="2457847"/>
            <a:ext cx="3454314" cy="2097484"/>
          </a:xfrm>
          <a:prstGeom prst="roundRect">
            <a:avLst>
              <a:gd name="adj" fmla="val 545"/>
            </a:avLst>
          </a:prstGeom>
          <a:solidFill>
            <a:srgbClr val="ECE6D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2686447"/>
            <a:ext cx="507987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7285" y="3396576"/>
            <a:ext cx="2997125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25" kern="100" dirty="0">
                <a:solidFill>
                  <a:srgbClr val="20222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Authorization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97285" y="3762891"/>
            <a:ext cx="322571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are you allowed to do?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27797" y="2457847"/>
            <a:ext cx="3454314" cy="2097484"/>
          </a:xfrm>
          <a:prstGeom prst="roundRect">
            <a:avLst>
              <a:gd name="adj" fmla="val 545"/>
            </a:avLst>
          </a:prstGeom>
          <a:solidFill>
            <a:srgbClr val="ECE6D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2686447"/>
            <a:ext cx="507987" cy="508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56391" y="3396576"/>
            <a:ext cx="2997125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25" kern="100" dirty="0">
                <a:solidFill>
                  <a:srgbClr val="20222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Accountability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356391" y="3762891"/>
            <a:ext cx="299712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happened, and can we trace it?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09585" y="4744561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 proof → permission → auditable action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680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 BY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09585" y="1279696"/>
            <a:ext cx="10972526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57" kern="100" dirty="0">
                <a:solidFill>
                  <a:srgbClr val="20222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Good access is specific, temporary, and earned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1972786"/>
            <a:ext cx="525766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Least privilege means granting only the access needed for the task, then reviewing whether it should continue.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657277"/>
            <a:ext cx="5257668" cy="123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Separate high-risk actions.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permissions over time.</a:t>
            </a:r>
            <a:endParaRPr lang="en-US" sz="1600" dirty="0"/>
          </a:p>
          <a:p>
            <a:pPr algn="l" marL="325120" indent="-325120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strong authentication so a stolen secret does not become a stolen identity.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24442" y="1967706"/>
            <a:ext cx="5257668" cy="1987947"/>
          </a:xfrm>
          <a:prstGeom prst="rect">
            <a:avLst/>
          </a:prstGeom>
          <a:solidFill>
            <a:srgbClr val="D8D2C8"/>
          </a:solidFill>
          <a:ln/>
        </p:spPr>
      </p:sp>
      <p:sp>
        <p:nvSpPr>
          <p:cNvPr id="7" name="Shape 5"/>
          <p:cNvSpPr/>
          <p:nvPr/>
        </p:nvSpPr>
        <p:spPr>
          <a:xfrm>
            <a:off x="6553036" y="2196306"/>
            <a:ext cx="1703444" cy="308670"/>
          </a:xfrm>
          <a:prstGeom prst="roundRect">
            <a:avLst>
              <a:gd name="adj" fmla="val 3703"/>
            </a:avLst>
          </a:prstGeom>
          <a:solidFill>
            <a:srgbClr val="F3DCD8"/>
          </a:solidFill>
          <a:ln/>
        </p:spPr>
      </p:sp>
      <p:sp>
        <p:nvSpPr>
          <p:cNvPr id="8" name="Text 6"/>
          <p:cNvSpPr/>
          <p:nvPr/>
        </p:nvSpPr>
        <p:spPr>
          <a:xfrm>
            <a:off x="6674874" y="2265239"/>
            <a:ext cx="2069354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BROAD · STANDING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3036" y="2609133"/>
            <a:ext cx="4800480" cy="26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spc="-28" kern="1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Everyone can reach the whole system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53036" y="2999204"/>
            <a:ext cx="480048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Permissions remain active after the original task ends.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442" y="4260453"/>
            <a:ext cx="5257668" cy="1987947"/>
          </a:xfrm>
          <a:prstGeom prst="rect">
            <a:avLst/>
          </a:prstGeom>
          <a:solidFill>
            <a:srgbClr val="B9C7BC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3036" y="4489053"/>
            <a:ext cx="2266199" cy="308670"/>
          </a:xfrm>
          <a:prstGeom prst="roundRect">
            <a:avLst>
              <a:gd name="adj" fmla="val 3703"/>
            </a:avLst>
          </a:prstGeom>
          <a:solidFill>
            <a:srgbClr val="F3DCD8"/>
          </a:solidFill>
          <a:ln/>
        </p:spPr>
      </p:sp>
      <p:sp>
        <p:nvSpPr>
          <p:cNvPr id="13" name="Text 11"/>
          <p:cNvSpPr/>
          <p:nvPr/>
        </p:nvSpPr>
        <p:spPr>
          <a:xfrm>
            <a:off x="6674874" y="4557986"/>
            <a:ext cx="2632108" cy="18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3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NARROW · TIME-BOUNDED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53036" y="4901880"/>
            <a:ext cx="4800480" cy="26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00" spc="-28" kern="1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One person gets one needed path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53036" y="5291951"/>
            <a:ext cx="480048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Access is earned, scoped to the task, and removed when it is no longer needed.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2610"/>
            <a:ext cx="365750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144" kern="100" dirty="0">
                <a:solidFill>
                  <a:srgbClr val="2022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CAN UNDERSTAND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1056"/>
            <a:ext cx="3301917" cy="2084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57" kern="100" dirty="0">
                <a:solidFill>
                  <a:srgbClr val="20222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Encryption changes who can understand the data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3142655"/>
            <a:ext cx="3301917" cy="1890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Plaintext becomes ciphertext through an encryption process. A key makes the transformation usable to an authorized party.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Protecting keys matters as much as choosing an algorithm.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684" y="533400"/>
            <a:ext cx="6321565" cy="3555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22684" y="4297581"/>
            <a:ext cx="69594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Encryption helps across rest, transit, and use. Key protection makes the promise real.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15730"/>
            <a:ext cx="304792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144" kern="100" dirty="0">
                <a:solidFill>
                  <a:srgbClr val="2022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RESILIENCE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044176"/>
            <a:ext cx="2806630" cy="15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57" kern="100" dirty="0">
                <a:solidFill>
                  <a:srgbClr val="20222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Defense works in layers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3779659"/>
            <a:ext cx="280663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0323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single control is perfect. Resilience comes from overlapping safeguards that can catch, contain, and recover from failure.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802" y="1146175"/>
            <a:ext cx="7450447" cy="4190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98802" y="5465663"/>
            <a:ext cx="829289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20222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People, policies, identity controls, secure systems, monitoring, and recovery reinforce one another.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37210"/>
            <a:ext cx="1137891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144" kern="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ORDINARY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865656"/>
            <a:ext cx="10769331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57" kern="100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Most incidents begin with an ordinary moment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1182" y="1559699"/>
            <a:ext cx="10769331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rushed click, reused password, exposed device, misdirected file, or overlooked update can open a path to harm.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11182" y="2413298"/>
            <a:ext cx="3386549" cy="1405334"/>
          </a:xfrm>
          <a:prstGeom prst="rect">
            <a:avLst/>
          </a:prstGeom>
          <a:solidFill>
            <a:srgbClr val="D8D2C8"/>
          </a:solidFill>
          <a:ln/>
        </p:spPr>
      </p:sp>
      <p:sp>
        <p:nvSpPr>
          <p:cNvPr id="6" name="Text 4"/>
          <p:cNvSpPr/>
          <p:nvPr/>
        </p:nvSpPr>
        <p:spPr>
          <a:xfrm>
            <a:off x="965176" y="2659877"/>
            <a:ext cx="2878562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25" kern="1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Pause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5176" y="3026192"/>
            <a:ext cx="287856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Notice the unusual request or exposed detail.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2523" y="2413298"/>
            <a:ext cx="3386549" cy="1405334"/>
          </a:xfrm>
          <a:prstGeom prst="rect">
            <a:avLst/>
          </a:prstGeom>
          <a:solidFill>
            <a:srgbClr val="B9C7BC"/>
          </a:solidFill>
          <a:ln/>
        </p:spPr>
      </p:sp>
      <p:sp>
        <p:nvSpPr>
          <p:cNvPr id="9" name="Text 7"/>
          <p:cNvSpPr/>
          <p:nvPr/>
        </p:nvSpPr>
        <p:spPr>
          <a:xfrm>
            <a:off x="4656517" y="2659877"/>
            <a:ext cx="2878562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25" kern="1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Check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56517" y="3026192"/>
            <a:ext cx="287856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the trusted path before acting.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93865" y="2413298"/>
            <a:ext cx="3386549" cy="1405334"/>
          </a:xfrm>
          <a:prstGeom prst="rect">
            <a:avLst/>
          </a:prstGeom>
          <a:solidFill>
            <a:srgbClr val="AEBFC5"/>
          </a:solidFill>
          <a:ln/>
        </p:spPr>
      </p:sp>
      <p:sp>
        <p:nvSpPr>
          <p:cNvPr id="12" name="Text 10"/>
          <p:cNvSpPr/>
          <p:nvPr/>
        </p:nvSpPr>
        <p:spPr>
          <a:xfrm>
            <a:off x="8347858" y="2659877"/>
            <a:ext cx="2878562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00" spc="-25" kern="1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Report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47858" y="3026192"/>
            <a:ext cx="313255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 the signal visible early.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1182" y="4004370"/>
            <a:ext cx="11378915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factors are part of system design, not a reason to blame individuals.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2026-10-19T20:15:21Z</dcterms:created>
  <dcterms:modified xsi:type="dcterms:W3CDTF">2026-10-19T20:15:21Z</dcterms:modified>
</cp:coreProperties>
</file>